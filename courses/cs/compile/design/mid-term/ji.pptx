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4.png"/><Relationship Id="rId4" Type="http://schemas.openxmlformats.org/officeDocument/2006/relationships/image" Target="../media/image2.svg"/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7.svg"/><Relationship Id="rId7" Type="http://schemas.openxmlformats.org/officeDocument/2006/relationships/image" Target="../media/image8.png"/><Relationship Id="rId6" Type="http://schemas.openxmlformats.org/officeDocument/2006/relationships/image" Target="../media/image6.svg"/><Relationship Id="rId5" Type="http://schemas.openxmlformats.org/officeDocument/2006/relationships/image" Target="../media/image7.png"/><Relationship Id="rId4" Type="http://schemas.openxmlformats.org/officeDocument/2006/relationships/image" Target="../media/image5.svg"/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9.svg"/><Relationship Id="rId11" Type="http://schemas.openxmlformats.org/officeDocument/2006/relationships/image" Target="../media/image10.png"/><Relationship Id="rId10" Type="http://schemas.openxmlformats.org/officeDocument/2006/relationships/image" Target="../media/image8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3.svg"/><Relationship Id="rId7" Type="http://schemas.openxmlformats.org/officeDocument/2006/relationships/image" Target="../media/image14.png"/><Relationship Id="rId6" Type="http://schemas.openxmlformats.org/officeDocument/2006/relationships/image" Target="../media/image12.svg"/><Relationship Id="rId5" Type="http://schemas.openxmlformats.org/officeDocument/2006/relationships/image" Target="../media/image13.png"/><Relationship Id="rId4" Type="http://schemas.openxmlformats.org/officeDocument/2006/relationships/image" Target="../media/image11.svg"/><Relationship Id="rId3" Type="http://schemas.openxmlformats.org/officeDocument/2006/relationships/image" Target="../media/image12.png"/><Relationship Id="rId2" Type="http://schemas.openxmlformats.org/officeDocument/2006/relationships/image" Target="../media/image10.sv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7.svg"/><Relationship Id="rId15" Type="http://schemas.openxmlformats.org/officeDocument/2006/relationships/image" Target="../media/image18.png"/><Relationship Id="rId14" Type="http://schemas.openxmlformats.org/officeDocument/2006/relationships/image" Target="../media/image16.svg"/><Relationship Id="rId13" Type="http://schemas.openxmlformats.org/officeDocument/2006/relationships/image" Target="../media/image17.png"/><Relationship Id="rId12" Type="http://schemas.openxmlformats.org/officeDocument/2006/relationships/image" Target="../media/image15.svg"/><Relationship Id="rId11" Type="http://schemas.openxmlformats.org/officeDocument/2006/relationships/image" Target="../media/image16.png"/><Relationship Id="rId10" Type="http://schemas.openxmlformats.org/officeDocument/2006/relationships/image" Target="../media/image14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sv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24.png"/><Relationship Id="rId7" Type="http://schemas.openxmlformats.org/officeDocument/2006/relationships/image" Target="../media/image21.svg"/><Relationship Id="rId6" Type="http://schemas.openxmlformats.org/officeDocument/2006/relationships/image" Target="../media/image23.png"/><Relationship Id="rId5" Type="http://schemas.openxmlformats.org/officeDocument/2006/relationships/image" Target="../media/image20.svg"/><Relationship Id="rId4" Type="http://schemas.openxmlformats.org/officeDocument/2006/relationships/image" Target="../media/image22.png"/><Relationship Id="rId3" Type="http://schemas.openxmlformats.org/officeDocument/2006/relationships/image" Target="../media/image19.svg"/><Relationship Id="rId2" Type="http://schemas.openxmlformats.org/officeDocument/2006/relationships/image" Target="../media/image21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3.svg"/><Relationship Id="rId10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27.svg"/><Relationship Id="rId7" Type="http://schemas.openxmlformats.org/officeDocument/2006/relationships/image" Target="../media/image31.png"/><Relationship Id="rId6" Type="http://schemas.openxmlformats.org/officeDocument/2006/relationships/image" Target="../media/image26.svg"/><Relationship Id="rId5" Type="http://schemas.openxmlformats.org/officeDocument/2006/relationships/image" Target="../media/image30.png"/><Relationship Id="rId4" Type="http://schemas.openxmlformats.org/officeDocument/2006/relationships/image" Target="../media/image25.svg"/><Relationship Id="rId3" Type="http://schemas.openxmlformats.org/officeDocument/2006/relationships/image" Target="../media/image29.png"/><Relationship Id="rId2" Type="http://schemas.openxmlformats.org/officeDocument/2006/relationships/image" Target="../media/image24.svg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9.svg"/><Relationship Id="rId11" Type="http://schemas.openxmlformats.org/officeDocument/2006/relationships/image" Target="../media/image33.png"/><Relationship Id="rId10" Type="http://schemas.openxmlformats.org/officeDocument/2006/relationships/image" Target="../media/image28.sv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Pascal-S2C编译器项目中期汇报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负责模块</a:t>
            </a:r>
            <a:r>
              <a:rPr lang="en-US" sz="2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28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</a:t>
            </a:r>
            <a:r>
              <a:rPr lang="en-US" sz="2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(Code Generation)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270000" cy="762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汇报人：计子毅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日期：2026年4月1</a:t>
            </a:r>
            <a:r>
              <a:rPr lang="x-none" alt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0" y="6096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1/11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本次汇报议程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143000" cy="2032000"/>
          </a:xfrm>
          <a:prstGeom prst="roundRect">
            <a:avLst>
              <a:gd name="adj" fmla="val 13333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177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模块概述与定位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286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介绍代码生成模块在整个编译器架构中的核心作用与功能，明确其作为连接前端分析与后端输出的枢纽地位。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1143000" cy="2032000"/>
          </a:xfrm>
          <a:prstGeom prst="roundRect">
            <a:avLst>
              <a:gd name="adj" fmla="val 13333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0955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0" y="177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核心数据结构设计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0" y="2286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详细解析模块内部的关键数据结构，重点分析代码写入器（Writer）和生成器实现类的设计思路与数据流转逻辑。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810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810000"/>
            <a:ext cx="1143000" cy="2032000"/>
          </a:xfrm>
          <a:prstGeom prst="roundRect">
            <a:avLst>
              <a:gd name="adj" fmla="val 13333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3815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13000" y="406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关键映射规则与算法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13000" y="4572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深入阐述将Pascal-S源语言语法结构转换为C目标语言代码的核心语义映射规则，以及关键的递归下降翻译算法。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4953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3810000"/>
            <a:ext cx="1143000" cy="2032000"/>
          </a:xfrm>
          <a:prstGeom prst="roundRect">
            <a:avLst>
              <a:gd name="adj" fmla="val 13333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43815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406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当前进展与下一步计划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4572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展示目前已完成的核心功能模块测试结果，并规划下一阶段针对复杂语法结构的适配开发与性能优化任务。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10922000" y="6223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2/11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01. 模块概述与定位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3175000" cy="41910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171700" y="1778000"/>
            <a:ext cx="863600" cy="8636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4900" y="19812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79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302000"/>
            <a:ext cx="2667000" cy="12700"/>
          </a:xfrm>
          <a:prstGeom prst="roundRect">
            <a:avLst>
              <a:gd name="adj" fmla="val 0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3556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核心使命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39116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将语义分析后的Pascal-S程序视图与符号表，精确转换为符合ANSI C标准的可编译代码。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4762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关键职责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51181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确保生成代码语义一致，同时具备良好的可读性与可编译性。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1524000"/>
            <a:ext cx="3175000" cy="41910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664200" y="1778000"/>
            <a:ext cx="863600" cy="8636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7400" y="19812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08500" y="279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技术特点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62500" y="3302000"/>
            <a:ext cx="2667000" cy="12700"/>
          </a:xfrm>
          <a:prstGeom prst="roundRect">
            <a:avLst>
              <a:gd name="adj" fmla="val 0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62500" y="3556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直接生成机制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62500" y="39116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不依赖中间代码（如三地址码），直接遍历语法树生成目标代码，简化流程。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62500" y="4572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智能遍历与优先级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62500" y="49276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采用深度优先遍历算法；严格遵循C语言运算符优先级，自动添加括号保证计算正确。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1524000"/>
            <a:ext cx="3175000" cy="41910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156700" y="1778000"/>
            <a:ext cx="863600" cy="8636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59900" y="19812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001000" y="2794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/>
                <a:ea typeface="Noto Sans SC"/>
                <a:cs typeface="Noto Sans SC"/>
                <a:sym typeface="Noto Sans SC"/>
              </a:rPr>
              <a:t>在编译器中的位置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3302000"/>
            <a:ext cx="2667000" cy="12700"/>
          </a:xfrm>
          <a:prstGeom prst="roundRect">
            <a:avLst>
              <a:gd name="adj" fmla="val 0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255000" y="3556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编译流程最后一环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39116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位于语义分析模块之后，是连接</a:t>
            </a:r>
            <a:r>
              <a:rPr lang="zh-CN" altLang="en-US" sz="1100" b="0" i="0" u="none" strike="noStrike">
                <a:solidFill>
                  <a:srgbClr val="6C757D"/>
                </a:solidFill>
                <a:latin typeface="Noto Sans SC"/>
                <a:ea typeface="SimSun" charset="0"/>
                <a:cs typeface="Noto Sans SC"/>
                <a:sym typeface="Noto Sans SC"/>
              </a:rPr>
              <a:t>源</a:t>
            </a: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语言（Pascal-S）与</a:t>
            </a:r>
            <a:r>
              <a:rPr lang="zh-CN" altLang="en-US" sz="1100" b="0" i="0" u="none" strike="noStrike">
                <a:solidFill>
                  <a:srgbClr val="6C757D"/>
                </a:solidFill>
                <a:latin typeface="Noto Sans SC"/>
                <a:ea typeface="SimSun" charset="0"/>
                <a:cs typeface="Noto Sans SC"/>
                <a:sym typeface="Noto Sans SC"/>
              </a:rPr>
              <a:t>目标</a:t>
            </a: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语言（C）的关键桥梁。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55000" y="4762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输入与输出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55000" y="51181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输入：合法语法树 + 符号表；</a:t>
            </a:r>
            <a:endParaRPr lang="en-US" sz="11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输出：最终的C语言文件。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模块的核心使命，是将前端处理好的、语义合法的Pascal-S程序视图，精确地转换为标准的C语言代码。设计特点是直接从语法树生成代码，采用深度优先遍历，并特别处理了表达式的优先级问题，以保证生成代码的正确性。在整个编译器架构中，它处于最后一环，是连接高级语言和低级语言的关键桥梁。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10922000" y="6223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3/11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核心数据结构设计 (1/2)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953000" cy="812800"/>
          </a:xfrm>
          <a:prstGeom prst="roundRect">
            <a:avLst>
              <a:gd name="adj" fmla="val 1875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CCodeGenerator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0" y="18796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对外接口类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67000"/>
            <a:ext cx="4445000" cy="952500"/>
          </a:xfrm>
          <a:prstGeom prst="roundRect">
            <a:avLst>
              <a:gd name="adj" fmla="val 10666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2794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794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97A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核心作用定义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1496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C646E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作为模块对外暴露的唯一接口，负责屏蔽所有内部复杂的实现细节，提供统一调用入口。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3746500"/>
            <a:ext cx="4445000" cy="1143000"/>
          </a:xfrm>
          <a:prstGeom prst="roundRect">
            <a:avLst>
              <a:gd name="adj" fmla="val 8888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0500" y="387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387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核心生成接口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42164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2C3E50"/>
                </a:solidFill>
                <a:latin typeface="Roboto Mono"/>
                <a:ea typeface="Roboto Mono"/>
                <a:cs typeface="Roboto Mono"/>
                <a:sym typeface="Roboto Mono"/>
              </a:rPr>
              <a:t>std::string generate(const LoweredProgramView&amp; program) const;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4826000"/>
            <a:ext cx="4445000" cy="889000"/>
          </a:xfrm>
          <a:prstGeom prst="roundRect">
            <a:avLst>
              <a:gd name="adj" fmla="val 11428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0500" y="4953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49530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97A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功能流程说明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5270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C646E"/>
                </a:solidFill>
                <a:latin typeface="Noto Sans SC"/>
                <a:ea typeface="Noto Sans SC"/>
                <a:cs typeface="Noto Sans SC"/>
                <a:sym typeface="Noto Sans SC"/>
              </a:rPr>
              <a:t>接收语义分析后的程序视图，调度生成逻辑并返回完整C代码字符串。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4953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1651000"/>
            <a:ext cx="4953000" cy="812800"/>
          </a:xfrm>
          <a:prstGeom prst="roundRect">
            <a:avLst>
              <a:gd name="adj" fmla="val 1875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CodegenImpl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17000" y="18796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核心实现类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2667000"/>
            <a:ext cx="4445000" cy="889000"/>
          </a:xfrm>
          <a:prstGeom prst="roundRect">
            <a:avLst>
              <a:gd name="adj" fmla="val 11428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2794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2794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97A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核心逻辑封装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3111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C646E"/>
                </a:solidFill>
                <a:latin typeface="Noto Sans SC"/>
                <a:ea typeface="Noto Sans SC"/>
                <a:cs typeface="Noto Sans SC"/>
                <a:sym typeface="Noto Sans SC"/>
              </a:rPr>
              <a:t>封装了代码生成的全部底层逻辑、上下文环境管理和类型映射规则。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3683000"/>
            <a:ext cx="4445000" cy="1206500"/>
          </a:xfrm>
          <a:prstGeom prst="roundRect">
            <a:avLst>
              <a:gd name="adj" fmla="val 8421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810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12000" y="3810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关键上下文结构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12000" y="4191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000" b="1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FunctionContext</a:t>
            </a:r>
            <a:r>
              <a:rPr lang="en-US" sz="10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: 记录当前函数名、返回类型等元信息。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000" b="1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RenderedExpr</a:t>
            </a:r>
            <a:r>
              <a:rPr lang="en-US" sz="1000" b="0" i="0" u="none" strike="noStrike">
                <a:solidFill>
                  <a:srgbClr val="505A64"/>
                </a:solidFill>
                <a:latin typeface="Noto Sans SC"/>
                <a:ea typeface="Noto Sans SC"/>
                <a:cs typeface="Noto Sans SC"/>
                <a:sym typeface="Noto Sans SC"/>
              </a:rPr>
              <a:t>: 存储表达式渲染文本、优先级，处理复杂嵌套。</a:t>
            </a:r>
            <a:endParaRPr lang="en-US" sz="1000" b="0" i="0" u="none" strike="noStrike">
              <a:solidFill>
                <a:srgbClr val="505A6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477000" y="4826000"/>
            <a:ext cx="4445000" cy="889000"/>
          </a:xfrm>
          <a:prstGeom prst="roundRect">
            <a:avLst>
              <a:gd name="adj" fmla="val 11428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9530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49530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97A7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流程启动方法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12000" y="5270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C3E50"/>
                </a:solidFill>
                <a:latin typeface="Roboto Mono"/>
                <a:ea typeface="Roboto Mono"/>
                <a:cs typeface="Roboto Mono"/>
                <a:sym typeface="Roboto Mono"/>
              </a:rPr>
              <a:t>std::string generate(); // 启动完整的代码生成流水线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两个主要的类。CCodeGenerator是对外的唯一接口，它提供了一个简洁的generate方法。而真正的实现逻辑都封装在CodegenImpl类中，它包含了代码生成所需的所有上下文和规则，是我们模块的核心。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10414000" y="6350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4/11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核心数据结构设计 (2/2)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5080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778000"/>
            <a:ext cx="711200" cy="711200"/>
          </a:xfrm>
          <a:prstGeom prst="ellipse">
            <a:avLst/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2400" y="19304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8288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CWriter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/ 代码写入器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667000"/>
            <a:ext cx="4572000" cy="889000"/>
          </a:xfrm>
          <a:prstGeom prst="roundRect">
            <a:avLst>
              <a:gd name="adj" fmla="val 17142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460500" y="2794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sz="1100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将生成的代码进行格式化输出，比如自动缩进，提升代码的可读性</a:t>
            </a:r>
            <a:r>
              <a:rPr lang="zh-CN" altLang="en-US" sz="1100" dirty="0">
                <a:solidFill>
                  <a:srgbClr val="6C757D"/>
                </a:solidFill>
                <a:latin typeface="Noto Sans SC"/>
                <a:ea typeface="SimSun" charset="0"/>
                <a:cs typeface="Noto Sans SC"/>
                <a:sym typeface="Noto Sans SC"/>
              </a:rPr>
              <a:t>。</a:t>
            </a:r>
            <a:endParaRPr lang="zh-CN" altLang="en-US" sz="1100" dirty="0">
              <a:solidFill>
                <a:srgbClr val="6C757D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3810000"/>
            <a:ext cx="4572000" cy="1651000"/>
          </a:xfrm>
          <a:prstGeom prst="roundRect">
            <a:avLst>
              <a:gd name="adj" fmla="val 923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460500" y="3937000"/>
            <a:ext cx="419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96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API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60500" y="4318000"/>
            <a:ext cx="20955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500" y="44196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3942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indent() / dedent()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83000" y="4318000"/>
            <a:ext cx="20955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0000" y="44196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27500" y="43942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writeLine()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60500" y="4953000"/>
            <a:ext cx="20955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7500" y="50546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50292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writeRaw() (Raw)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83000" y="4953000"/>
            <a:ext cx="20955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0000" y="50546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127500" y="50292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str() (Result)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1524000"/>
            <a:ext cx="4826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1778000"/>
            <a:ext cx="711200" cy="711200"/>
          </a:xfrm>
          <a:prstGeom prst="ellipse">
            <a:avLst/>
          </a:prstGeom>
          <a:solidFill>
            <a:srgbClr val="FFEB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6400" y="19304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93000" y="18288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CodeGenError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/ 错误结构体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04000" y="2667000"/>
            <a:ext cx="4318000" cy="1016000"/>
          </a:xfrm>
          <a:prstGeom prst="roundRect">
            <a:avLst>
              <a:gd name="adj" fmla="val 15000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794500" y="279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异常捕获机制：</a:t>
            </a: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专门用于记录代码生成过程中的异常信息（如语法不支持、类型推导失败等），并关联到源程序的具体位置，极大提升调试效率。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3810000"/>
            <a:ext cx="4318000" cy="1651000"/>
          </a:xfrm>
          <a:prstGeom prst="roundRect">
            <a:avLst>
              <a:gd name="adj" fmla="val 9230"/>
            </a:avLst>
          </a:prstGeom>
          <a:solidFill>
            <a:srgbClr val="FFF3E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794500" y="39370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关键数据字段定义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794500" y="4318000"/>
            <a:ext cx="3937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21500" y="44196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239000" y="43942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ErrorType:</a:t>
            </a: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错误类型编码 (枚举值，如 SYNTAX_ERROR)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794500" y="4826000"/>
            <a:ext cx="3937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1500" y="49276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239000" y="49022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Description:</a:t>
            </a:r>
            <a:r>
              <a:rPr lang="en-US" sz="11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错误的详细自然语言描述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除了核心实现类，CWriter类，负责将生成的代码进行格式化输出，比如自动缩进，大大提升了代码的可读性。同时，CodeGenError结构体，用于在代码生成过程中捕获和记录错误，方便调试和用户反馈。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11176000" y="6223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5/11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核心映射规则 (1/2)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为确保语义一致，我们定义了严格的Pascal-S到C的映射规则，以下为核心的数据类型对应关系。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10160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10160000" cy="76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476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97A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数据类型映射表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270000" y="3048000"/>
          <a:ext cx="9652000" cy="2260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2794000"/>
                <a:gridCol w="4064000"/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0838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Pascal-S 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0838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 语言类型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0838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映射说明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7FA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integer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标准整型直接映射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float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单精度浮点数类型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ASCII 字符直接映射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boolean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9505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bool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需引入头文件 &lt;stdbool.h&gt;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代码生成的核心在于定义正确的映射规则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zh-CN" altLang="en-US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根据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数据类型映射表。可以看到，将Pascal-S的各种数据类型，包括基本类型、数组、过程和函数，都一一对应到了C语言的相应结构上。特别是对于var参数，将其映射为C语言的指针，以实现按引用传递的语义。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0" y="6350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6/11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核心映射规则 (2/2)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4953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397000"/>
            <a:ext cx="4953000" cy="508000"/>
          </a:xfrm>
          <a:prstGeom prst="roundRect">
            <a:avLst>
              <a:gd name="adj" fmla="val 3000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06500" y="139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流程控制结构映射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06500" y="2095500"/>
            <a:ext cx="4572000" cy="609600"/>
          </a:xfrm>
          <a:prstGeom prst="roundRect">
            <a:avLst>
              <a:gd name="adj" fmla="val 1666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333500" y="20955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begin ... end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2500" y="22479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937000" y="2095500"/>
            <a:ext cx="165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{ ... } (自动缩进)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2794000"/>
            <a:ext cx="4572000" cy="609600"/>
          </a:xfrm>
          <a:prstGeom prst="roundRect">
            <a:avLst>
              <a:gd name="adj" fmla="val 1666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333500" y="27940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if ... then ... else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2500" y="2946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937000" y="2794000"/>
            <a:ext cx="165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if() { ... } else { ... }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06500" y="3492500"/>
            <a:ext cx="4572000" cy="609600"/>
          </a:xfrm>
          <a:prstGeom prst="roundRect">
            <a:avLst>
              <a:gd name="adj" fmla="val 1666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333500" y="3492500"/>
            <a:ext cx="203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while / for 循环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2500" y="36449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937000" y="3492500"/>
            <a:ext cx="165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while() { ... } / for(;;)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397000"/>
            <a:ext cx="4953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1397000"/>
            <a:ext cx="4953000" cy="508000"/>
          </a:xfrm>
          <a:prstGeom prst="roundRect">
            <a:avLst>
              <a:gd name="adj" fmla="val 3000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139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输入输出与运算符映射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2095500"/>
            <a:ext cx="4572000" cy="609600"/>
          </a:xfrm>
          <a:prstGeom prst="roundRect">
            <a:avLst>
              <a:gd name="adj" fmla="val 1666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40500" y="20955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read(x) / write(x)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0" y="22479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17000" y="2095500"/>
            <a:ext cx="177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scanf(...) / printf(...)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2794000"/>
            <a:ext cx="4572000" cy="609600"/>
          </a:xfrm>
          <a:prstGeom prst="roundRect">
            <a:avLst>
              <a:gd name="adj" fmla="val 1666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40500" y="27940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赋值 / 逻辑运算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0" y="29464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017000" y="2794000"/>
            <a:ext cx="177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= / &amp;&amp; / || / !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13500" y="3492500"/>
            <a:ext cx="4572000" cy="609600"/>
          </a:xfrm>
          <a:prstGeom prst="roundRect">
            <a:avLst>
              <a:gd name="adj" fmla="val 16666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540500" y="34925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关系比较运算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0" y="36449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017000" y="3492500"/>
            <a:ext cx="177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== (等于) / != (不等)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16000" y="4699000"/>
            <a:ext cx="10160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除了数据类型，还定义了语法结构和关键字的映射规则。例如，Pascal的begin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...</a:t>
            </a:r>
            <a:r>
              <a:rPr lang="en-US" sz="14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end会被转换为C的花括号，if</a:t>
            </a: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...then...else结构也会被正确地转换。算法会严格遵循C语言的运算符优先级，并在必要时自动添加括号，确保生成代码的运算逻辑与源程序完全一致。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10922000" y="6350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7/11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04. 核心算法流程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4572000" cy="3810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CD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核心算法原理解析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97000" y="2540000"/>
            <a:ext cx="3810000" cy="889000"/>
          </a:xfrm>
          <a:prstGeom prst="roundRect">
            <a:avLst>
              <a:gd name="adj" fmla="val 11428"/>
            </a:avLst>
          </a:prstGeom>
          <a:solidFill>
            <a:srgbClr val="E0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87500" y="27305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97A7"/>
                </a:solidFill>
                <a:latin typeface="Noto Sans SC"/>
                <a:ea typeface="Noto Sans SC"/>
                <a:cs typeface="Noto Sans SC"/>
                <a:sym typeface="Noto Sans SC"/>
              </a:rPr>
              <a:t>语法树深度优先遍历转换算法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通过对抽象语法树（AST）进行深度优先遍历，将树状结构的语义节点逐层解析。在遍历过程中结合代码生成器的上下文环境，将结构化的逻辑信息递归转换为标准化的目标代码。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4826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关键步骤：</a:t>
            </a: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初始化环境 → 节点遍历 → 代码渲染 → 格式化输出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842000"/>
            <a:ext cx="646485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整个过程基于对语法树的深度优先遍历。从初始化开始，依次生成头文件、全局声明、子程序，并最终生成main函数。在遍历过程中，表达式会被递归地渲染，并通过CWriter进行格式化。整个流程确保了所有节点都被正确访问和转换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414000" y="6350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8/11</a:t>
            </a:r>
            <a:endParaRPr lang="en-US" sz="11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596" y="0"/>
            <a:ext cx="2211287" cy="6110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05. 当前进展与下一步计划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953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20800" y="1905000"/>
            <a:ext cx="50800" cy="330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4986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 (已完成)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20800" y="2349500"/>
            <a:ext cx="4343400" cy="1079500"/>
          </a:xfrm>
          <a:prstGeom prst="roundRect">
            <a:avLst>
              <a:gd name="adj" fmla="val 9411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6162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222500" y="251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核心数据结构定义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22500" y="285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CCodeGenerator、CodegenImpl、CWriter 等核心类的架构设计与功能实现。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20800" y="3556000"/>
            <a:ext cx="4343400" cy="1079500"/>
          </a:xfrm>
          <a:prstGeom prst="roundRect">
            <a:avLst>
              <a:gd name="adj" fmla="val 9411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38227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222500" y="37211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基础映射规则落地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22500" y="4064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实现 integer/real/char 等基本类型，及 begin/end、if/else 等基础语法的代码映射。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20800" y="4762500"/>
            <a:ext cx="4343400" cy="1079500"/>
          </a:xfrm>
          <a:prstGeom prst="roundRect">
            <a:avLst>
              <a:gd name="adj" fmla="val 9411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" y="50292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222500" y="4927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代码生成框架搭建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22500" y="5270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构建了完整的生成主流程，支持从 AST 节点遍历到目标代码输出的全链路逻辑。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4953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27800" y="1905000"/>
            <a:ext cx="50800" cy="330200"/>
          </a:xfrm>
          <a:prstGeom prst="roundRect">
            <a:avLst>
              <a:gd name="adj" fmla="val 0"/>
            </a:avLst>
          </a:prstGeom>
          <a:solidFill>
            <a:srgbClr val="00BC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056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下一步重点计划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27800" y="2349500"/>
            <a:ext cx="4343400" cy="1079500"/>
          </a:xfrm>
          <a:prstGeom prst="roundRect">
            <a:avLst>
              <a:gd name="adj" fmla="val 9411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26162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29500" y="251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完善复杂语法节点支持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29500" y="2857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重点实现数组、记录类型的生成；完成过程/函数调用及 Var 参数传递的逻辑开发。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27800" y="3556000"/>
            <a:ext cx="4343400" cy="1079500"/>
          </a:xfrm>
          <a:prstGeom prst="roundRect">
            <a:avLst>
              <a:gd name="adj" fmla="val 9411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38227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29500" y="37211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建立完善的错误处理机制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29500" y="4064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设计 CodeGenError 统一上报接口；针对不支持语法抛出明确的语义错误提示。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27800" y="4762500"/>
            <a:ext cx="4343400" cy="1079500"/>
          </a:xfrm>
          <a:prstGeom prst="roundRect">
            <a:avLst>
              <a:gd name="adj" fmla="val 9411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50292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29500" y="4927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全面测试与性能优化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29500" y="5270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编写覆盖核心功能的单元测试用例；执行端到端集成测试，确保模块协同稳定。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414000" y="6223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9/11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161790" cy="3937000"/>
          </a:xfrm>
          <a:prstGeom prst="roundRect">
            <a:avLst>
              <a:gd name="adj" fmla="val 3870"/>
            </a:avLst>
          </a:prstGeom>
          <a:blipFill rotWithShape="1">
            <a:blip r:embed="rId1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095500" y="2692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095500" y="3048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095500" y="3835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2095500" y="419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2095500" y="4724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2095500" y="508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995160" y="1651000"/>
            <a:ext cx="4053840" cy="3937000"/>
          </a:xfrm>
          <a:prstGeom prst="roundRect">
            <a:avLst>
              <a:gd name="adj" fmla="val 3870"/>
            </a:avLst>
          </a:prstGeom>
          <a:blipFill rotWithShape="1">
            <a:blip r:embed="rId2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302500" y="2692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302500" y="3048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302500" y="3835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302500" y="419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7302500" y="4724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7302500" y="508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10414000" y="6096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2000" b="1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20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/1</a:t>
            </a:r>
            <a:r>
              <a:rPr lang="en-US" sz="2000" b="1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06.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826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CD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 · Summary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2540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2794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95500" y="2692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关键环节把控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95500" y="3048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作为编译器的最终输出环节，代码生成模块的设计正确性直接决定了编译结果的有效性。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3683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0500" y="393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95500" y="3835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核心设计原则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95500" y="419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坚持语义一致性与代码可读性，通过严格映射规则与格式化输出，确保生成C代码的高质量。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4572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0500" y="4826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95500" y="4724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高效技术选型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95500" y="508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采用“直接生成”策略简化实现复杂度，既满足课程设计的核心要求，又保证了开发效率。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4826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CD4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 · Outlook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540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2794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02500" y="2692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全功能特性支持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02500" y="3048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后续版本将持续迭代，全面适配并支持 Pascal-S 语言定义中的所有语法特性。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683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9370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3835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编译性能优化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302500" y="419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探索更高效的中间代码遍历与生成算法，大幅减少指令冗余，提升整体编译速度。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572000"/>
            <a:ext cx="4318000" cy="1016000"/>
          </a:xfrm>
          <a:prstGeom prst="roundRect">
            <a:avLst>
              <a:gd name="adj" fmla="val 10000"/>
            </a:avLst>
          </a:prstGeom>
          <a:solidFill>
            <a:srgbClr val="E0F7F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8260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02500" y="4724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目标代码优化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02500" y="508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C757D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尝试</a:t>
            </a: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引入常量折叠、死代码消除等优化技术，在保证逻辑正确的前提下，提升目标代码执行效率。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414000" y="6096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2000" b="1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sz="20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/1</a:t>
            </a:r>
            <a:r>
              <a:rPr lang="en-US" sz="2000" b="1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3212</Words>
  <Application>WPS Presentation</Application>
  <PresentationFormat>宽屏</PresentationFormat>
  <Paragraphs>298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</vt:lpstr>
      <vt:lpstr>DejaVu Sans</vt:lpstr>
      <vt:lpstr>Noto Sans SC</vt:lpstr>
      <vt:lpstr>Gubbi</vt:lpstr>
      <vt:lpstr>SimSun</vt:lpstr>
      <vt:lpstr>Roboto Mono</vt:lpstr>
      <vt:lpstr>SimSun</vt:lpstr>
      <vt:lpstr>文泉驿微米黑</vt:lpstr>
      <vt:lpstr>Microsoft YaHei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abe</cp:lastModifiedBy>
  <cp:revision>12</cp:revision>
  <dcterms:created xsi:type="dcterms:W3CDTF">2026-04-16T08:23:59Z</dcterms:created>
  <dcterms:modified xsi:type="dcterms:W3CDTF">2026-04-16T08:23:59Z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